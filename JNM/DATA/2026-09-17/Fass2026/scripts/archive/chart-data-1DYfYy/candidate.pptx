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fb2c5f47cb4f46" /><Relationship Type="http://schemas.openxmlformats.org/officeDocument/2006/relationships/extended-properties" Target="/docProps/app.xml" Id="Ra2288fd3af4e4fad" /><Relationship Type="http://schemas.openxmlformats.org/officeDocument/2006/relationships/officeDocument" Target="/ppt/presentation.xml" Id="Rcdc19f63467741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d2fd03dfdb435d"/>
  </p:sldMasterIdLst>
  <p:notesMasterIdLst>
    <p:notesMasterId xmlns:r="http://schemas.openxmlformats.org/officeDocument/2006/relationships" r:id="Rb5dd3f22aa53409c"/>
  </p:notesMasterIdLst>
  <p:sldIdLst>
    <p:sldId xmlns:r="http://schemas.openxmlformats.org/officeDocument/2006/relationships" id="256" r:id="R2156599fbd5d4e9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d9a1a412a14440" /><Relationship Type="http://schemas.openxmlformats.org/officeDocument/2006/relationships/slideMaster" Target="/ppt/slideMasters/slideMaster1.xml" Id="R4dd2fd03dfdb435d" /><Relationship Type="http://schemas.openxmlformats.org/officeDocument/2006/relationships/notesMaster" Target="/ppt/notesMasters/notesMaster1.xml" Id="Rb5dd3f22aa53409c" /><Relationship Type="http://schemas.openxmlformats.org/officeDocument/2006/relationships/presProps" Target="/ppt/presProps.xml" Id="R690c11c20d384fd2" /><Relationship Type="http://schemas.openxmlformats.org/officeDocument/2006/relationships/tableStyles" Target="/ppt/tableStyles.xml" Id="R9ae3a27d70484f9d" /><Relationship Type="http://schemas.openxmlformats.org/officeDocument/2006/relationships/slide" Target="/ppt/slides/slide1.xml" Id="R2156599fbd5d4e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0051c21e2f40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7b12cdc46a42f9" /><Relationship Type="http://schemas.openxmlformats.org/officeDocument/2006/relationships/notesMaster" Target="/ppt/notesMasters/notesMaster1.xml" Id="Rbe981163329742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Abdel-Jalil A, Koo TH, Fass R. J Neurogastroenterol Motil. 2026;32(2):217–227. DOI 10.5056/jnm25058. Supplied source: JNM sample/jnm-32-2-217.pdf. Cohort and study design: p.217 and Methods. Main comparison: p.223, Table 4. Percentages are as reported (29 and 13), denominators 51 and 155, reported P=0.006. This is the prevalence of coexisting abnormal bolus transit and elevated IRP within each symptom group, not dysphagia prevalence within physiological subgroups. Original article CC BY-NC 4.0. The anatomical illustration was created with OpenAI image generation on 2026-09-17 and is conceptual; it is not measured patient anatomy. Text and chart are native editable PowerPoint elements. LES: lower esophageal sphincter. IEM: ineffective esophageal motility.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fb477ea8e46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783a34d70f42aa" /><Relationship Type="http://schemas.openxmlformats.org/officeDocument/2006/relationships/slideLayout" Target="/ppt/slideLayouts/slideLayout1.xml" Id="R17e57ba2a05445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e57ba2a05445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1982c5e3844b6" /><Relationship Type="http://schemas.openxmlformats.org/officeDocument/2006/relationships/image" Target="/ppt/media/image.jpeg" Id="Rb0aaef4166f64618" /><Relationship Type="http://schemas.openxmlformats.org/officeDocument/2006/relationships/chart" Target="/ppt/slides/charts/chart1.xml" Id="R16a0e3c010ae4d93" /><Relationship Type="http://schemas.openxmlformats.org/officeDocument/2006/relationships/notesSlide" Target="/ppt/notesSlides/notesSlide1.xml" Id="Rcfb58831841341e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Abnormal bolus transit + elevated IRP (%)</c:v>
          </c:tx>
          <c:spPr>
            <a:solidFill xmlns:a="http://schemas.openxmlformats.org/drawingml/2006/main">
              <a:srgbClr val="237F86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785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37F86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400" b="1">
                        <a:solidFill>
                          <a:srgbClr val="D17852"/>
                        </a:solidFill>
                        <a:latin typeface="Arial"/>
                        <a:ea typeface="Arial"/>
                        <a:cs typeface="Arial"/>
                      </a:rPr>
                      <a:t>29%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400" b="1">
                      <a:solidFill>
                        <a:srgbClr val="D17852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400" b="1">
                        <a:solidFill>
                          <a:srgbClr val="237F86"/>
                        </a:solidFill>
                        <a:latin typeface="Arial"/>
                        <a:ea typeface="Arial"/>
                        <a:cs typeface="Arial"/>
                      </a:rPr>
                      <a:t>13%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400" b="1">
                      <a:solidFill>
                        <a:srgbClr val="237F86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With dysphagia</c:v>
                </c:pt>
                <c:pt idx="1">
                  <c:v>Without dysphagia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29</c:v>
                </c:pt>
                <c:pt idx="1">
                  <c:v>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 b="1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FC0C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8EA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 background">
            <a:extLst xmlns:a="http://schemas.openxmlformats.org/drawingml/2006/main">
              <a:ext uri="{FF2B5EF4-FFF2-40B4-BE49-F238E27FC236}">
                <a16:creationId xmlns:a16="http://schemas.microsoft.com/office/drawing/2014/main" id="{1F52008E-24B9-4C26-9E90-B4F5DB13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54"/>
          </a:solidFill>
          <a:ln xmlns:a="http://schemas.openxmlformats.org/drawingml/2006/main" w="0">
            <a:noFill/>
          </a:ln>
        </p:spPr>
      </p:sp>
      <p:sp>
        <p:nvSpPr>
          <p:cNvPr id="2" name="Journal">
            <a:extLst xmlns:a="http://schemas.openxmlformats.org/drawingml/2006/main">
              <a:ext uri="{FF2B5EF4-FFF2-40B4-BE49-F238E27FC236}">
                <a16:creationId xmlns:a16="http://schemas.microsoft.com/office/drawing/2014/main" id="{5A6D806D-77AF-44E1-9DC5-C697C8F0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JNM</a:t>
            </a:r>
          </a:p>
        </p:txBody>
      </p:sp>
      <p:sp>
        <p:nvSpPr>
          <p:cNvPr id="3" name="Journal name">
            <a:extLst xmlns:a="http://schemas.openxmlformats.org/drawingml/2006/main">
              <a:ext uri="{FF2B5EF4-FFF2-40B4-BE49-F238E27FC236}">
                <a16:creationId xmlns:a16="http://schemas.microsoft.com/office/drawing/2014/main" id="{A8537B70-4CB5-430A-9316-7CC29FDE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667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Journal of Neurogastroenterology and Motility</a:t>
            </a:r>
          </a:p>
        </p:txBody>
      </p:sp>
      <p:sp>
        <p:nvSpPr>
          <p:cNvPr id="4" name="Draft identifier">
            <a:extLst xmlns:a="http://schemas.openxmlformats.org/drawingml/2006/main">
              <a:ext uri="{FF2B5EF4-FFF2-40B4-BE49-F238E27FC236}">
                <a16:creationId xmlns:a16="http://schemas.microsoft.com/office/drawing/2014/main" id="{79300AD8-EA0B-4478-B0FF-28F543A5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6670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EDITORIAL SAMPLE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88F133E-309F-4BEA-B5FC-40690A11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419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Dysphagia in ineffective esophageal motility</a:t>
            </a:r>
          </a:p>
        </p:txBody>
      </p:sp>
      <p:sp>
        <p:nvSpPr>
          <p:cNvPr id="6" name="Cohort size">
            <a:extLst xmlns:a="http://schemas.openxmlformats.org/drawingml/2006/main">
              <a:ext uri="{FF2B5EF4-FFF2-40B4-BE49-F238E27FC236}">
                <a16:creationId xmlns:a16="http://schemas.microsoft.com/office/drawing/2014/main" id="{E3C8E234-B441-4E2A-8426-90FD70DA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457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37F86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37F86"/>
                </a:solidFill>
                <a:latin typeface="Arial"/>
                <a:ea typeface="Arial"/>
                <a:cs typeface="Arial"/>
              </a:rPr>
              <a:t>228</a:t>
            </a:r>
          </a:p>
        </p:txBody>
      </p:sp>
      <p:sp>
        <p:nvSpPr>
          <p:cNvPr id="7" name="Cohort descriptor">
            <a:extLst xmlns:a="http://schemas.openxmlformats.org/drawingml/2006/main">
              <a:ext uri="{FF2B5EF4-FFF2-40B4-BE49-F238E27FC236}">
                <a16:creationId xmlns:a16="http://schemas.microsoft.com/office/drawing/2014/main" id="{46546001-DD6B-4781-964A-E6A4A0B0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0097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patients with IEM</a:t>
            </a:r>
          </a:p>
        </p:txBody>
      </p:sp>
      <p:sp>
        <p:nvSpPr>
          <p:cNvPr id="8" name="Study design">
            <a:extLst xmlns:a="http://schemas.openxmlformats.org/drawingml/2006/main">
              <a:ext uri="{FF2B5EF4-FFF2-40B4-BE49-F238E27FC236}">
                <a16:creationId xmlns:a16="http://schemas.microsoft.com/office/drawing/2014/main" id="{A54B94C4-DF09-4E69-A09F-35E68536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193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Single-center retrospective study, 2010–2013 [1]</a:t>
            </a:r>
          </a:p>
        </p:txBody>
      </p:sp>
      <p:sp>
        <p:nvSpPr>
          <p:cNvPr id="9" name="Assessment">
            <a:extLst xmlns:a="http://schemas.openxmlformats.org/drawingml/2006/main">
              <a:ext uri="{FF2B5EF4-FFF2-40B4-BE49-F238E27FC236}">
                <a16:creationId xmlns:a16="http://schemas.microsoft.com/office/drawing/2014/main" id="{36E1E90F-A7BE-4439-997C-7AABE531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812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High-resolution manometry</a:t>
            </a:r>
          </a:p>
          <a:p xmlns:a="http://schemas.openxmlformats.org/drawingml/2006/main">
            <a:pPr algn="r">
              <a:defRPr sz="2025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with impedance</a:t>
            </a:r>
          </a:p>
        </p:txBody>
      </p:sp>
      <p:sp>
        <p:nvSpPr>
          <p:cNvPr id="10" name="Study separator">
            <a:extLst xmlns:a="http://schemas.openxmlformats.org/drawingml/2006/main">
              <a:ext uri="{FF2B5EF4-FFF2-40B4-BE49-F238E27FC236}">
                <a16:creationId xmlns:a16="http://schemas.microsoft.com/office/drawing/2014/main" id="{311CBEED-8492-43A0-B66C-71918A2A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4D9"/>
            </a:solidFill>
            <a:prstDash val="solid"/>
          </a:ln>
        </p:spPr>
      </p:sp>
      <p:sp>
        <p:nvSpPr>
          <p:cNvPr id="11" name="Physiology heading">
            <a:extLst xmlns:a="http://schemas.openxmlformats.org/drawingml/2006/main">
              <a:ext uri="{FF2B5EF4-FFF2-40B4-BE49-F238E27FC236}">
                <a16:creationId xmlns:a16="http://schemas.microsoft.com/office/drawing/2014/main" id="{077FC485-74EB-4701-889B-634DD55A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3725"/>
            <a:ext cx="695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7F86"/>
                </a:solidFill>
                <a:latin typeface="Arial"/>
                <a:ea typeface="Arial"/>
                <a:cs typeface="Arial"/>
              </a:rPr>
              <a:t>COMBINED FINDINGS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aef4166f64618"/>
          <a:stretch xmlns:a="http://schemas.openxmlformats.org/drawingml/2006/main"/>
        </p:blipFill>
        <p:spPr>
          <a:xfrm xmlns:a="http://schemas.openxmlformats.org/drawingml/2006/main">
            <a:off x="3941763" y="3590925"/>
            <a:ext cx="2279650" cy="3419475"/>
          </a:xfrm>
          <a:prstGeom xmlns:a="http://schemas.openxmlformats.org/drawingml/2006/main" prst="rect">
            <a:avLst/>
          </a:prstGeom>
        </p:spPr>
      </p:pic>
      <p:sp>
        <p:nvSpPr>
          <p:cNvPr id="13" name="Bolus transit label">
            <a:extLst xmlns:a="http://schemas.openxmlformats.org/drawingml/2006/main">
              <a:ext uri="{FF2B5EF4-FFF2-40B4-BE49-F238E27FC236}">
                <a16:creationId xmlns:a16="http://schemas.microsoft.com/office/drawing/2014/main" id="{C978F98A-4AE7-4949-AEA6-5AFF5F50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3114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Defective bolus transit</a:t>
            </a:r>
          </a:p>
        </p:txBody>
      </p:sp>
      <p:sp>
        <p:nvSpPr>
          <p:cNvPr id="14" name="Bolus transit detail">
            <a:extLst xmlns:a="http://schemas.openxmlformats.org/drawingml/2006/main">
              <a:ext uri="{FF2B5EF4-FFF2-40B4-BE49-F238E27FC236}">
                <a16:creationId xmlns:a16="http://schemas.microsoft.com/office/drawing/2014/main" id="{438F2800-88C9-4F75-8A39-592AE840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Liquid and viscous swallows</a:t>
            </a:r>
          </a:p>
        </p:txBody>
      </p:sp>
      <p:sp>
        <p:nvSpPr>
          <p:cNvPr id="15" name="Bolus callout">
            <a:extLst xmlns:a="http://schemas.openxmlformats.org/drawingml/2006/main">
              <a:ext uri="{FF2B5EF4-FFF2-40B4-BE49-F238E27FC236}">
                <a16:creationId xmlns:a16="http://schemas.microsoft.com/office/drawing/2014/main" id="{3CF705BA-3E60-4DCD-A12D-B878B227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910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7F86"/>
            </a:solidFill>
            <a:prstDash val="solid"/>
          </a:ln>
        </p:spPr>
      </p:sp>
      <p:sp>
        <p:nvSpPr>
          <p:cNvPr id="16" name="Combination sign">
            <a:extLst xmlns:a="http://schemas.openxmlformats.org/drawingml/2006/main">
              <a:ext uri="{FF2B5EF4-FFF2-40B4-BE49-F238E27FC236}">
                <a16:creationId xmlns:a16="http://schemas.microsoft.com/office/drawing/2014/main" id="{48093E9C-20B5-49C9-9A18-D1929E56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33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178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1785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LES label">
            <a:extLst xmlns:a="http://schemas.openxmlformats.org/drawingml/2006/main">
              <a:ext uri="{FF2B5EF4-FFF2-40B4-BE49-F238E27FC236}">
                <a16:creationId xmlns:a16="http://schemas.microsoft.com/office/drawing/2014/main" id="{0A05F035-8FD1-4985-85CB-B104C0DA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3114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Poor LES relaxation</a:t>
            </a:r>
          </a:p>
        </p:txBody>
      </p:sp>
      <p:sp>
        <p:nvSpPr>
          <p:cNvPr id="18" name="IRP label">
            <a:extLst xmlns:a="http://schemas.openxmlformats.org/drawingml/2006/main">
              <a:ext uri="{FF2B5EF4-FFF2-40B4-BE49-F238E27FC236}">
                <a16:creationId xmlns:a16="http://schemas.microsoft.com/office/drawing/2014/main" id="{23309174-6314-4B3C-A540-E9CA4C76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Elevated integrated</a:t>
            </a:r>
          </a:p>
          <a:p xmlns:a="http://schemas.openxmlformats.org/drawingml/2006/main">
            <a:pPr algn="l">
              <a:defRPr sz="1575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relaxation pressure (IRP)</a:t>
            </a:r>
          </a:p>
        </p:txBody>
      </p:sp>
      <p:sp>
        <p:nvSpPr>
          <p:cNvPr id="19" name="LES callout horizontal">
            <a:extLst xmlns:a="http://schemas.openxmlformats.org/drawingml/2006/main">
              <a:ext uri="{FF2B5EF4-FFF2-40B4-BE49-F238E27FC236}">
                <a16:creationId xmlns:a16="http://schemas.microsoft.com/office/drawing/2014/main" id="{3DC66431-EAD6-47DA-9E94-838BBA51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81977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7852"/>
            </a:solidFill>
            <a:prstDash val="solid"/>
          </a:ln>
        </p:spPr>
      </p:sp>
      <p:sp>
        <p:nvSpPr>
          <p:cNvPr id="20" name="LES callout diagonal">
            <a:extLst xmlns:a="http://schemas.openxmlformats.org/drawingml/2006/main">
              <a:ext uri="{FF2B5EF4-FFF2-40B4-BE49-F238E27FC236}">
                <a16:creationId xmlns:a16="http://schemas.microsoft.com/office/drawing/2014/main" id="{11FD0E78-EE91-48CF-9985-451CFB9C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191000" y="5305425"/>
            <a:ext cx="771525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7852"/>
            </a:solidFill>
            <a:prstDash val="solid"/>
          </a:ln>
        </p:spPr>
      </p:sp>
      <p:sp>
        <p:nvSpPr>
          <p:cNvPr id="21" name="Schematic qualifier">
            <a:extLst xmlns:a="http://schemas.openxmlformats.org/drawingml/2006/main">
              <a:ext uri="{FF2B5EF4-FFF2-40B4-BE49-F238E27FC236}">
                <a16:creationId xmlns:a16="http://schemas.microsoft.com/office/drawing/2014/main" id="{E569E661-A288-4AFB-92E3-55D31828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9723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Conceptual illustration</a:t>
            </a:r>
          </a:p>
        </p:txBody>
      </p:sp>
      <p:sp>
        <p:nvSpPr>
          <p:cNvPr id="22" name="Content separator">
            <a:extLst xmlns:a="http://schemas.openxmlformats.org/drawingml/2006/main">
              <a:ext uri="{FF2B5EF4-FFF2-40B4-BE49-F238E27FC236}">
                <a16:creationId xmlns:a16="http://schemas.microsoft.com/office/drawing/2014/main" id="{2663E81D-4F66-41A1-8768-C527B348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90875"/>
            <a:ext cx="0" cy="3571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4D9"/>
            </a:solidFill>
            <a:prstDash val="solid"/>
          </a:ln>
        </p:spPr>
      </p:sp>
      <p:sp>
        <p:nvSpPr>
          <p:cNvPr id="23" name="Result heading">
            <a:extLst xmlns:a="http://schemas.openxmlformats.org/drawingml/2006/main">
              <a:ext uri="{FF2B5EF4-FFF2-40B4-BE49-F238E27FC236}">
                <a16:creationId xmlns:a16="http://schemas.microsoft.com/office/drawing/2014/main" id="{38D47D33-4CC6-44B9-AC43-4A89EF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33725"/>
            <a:ext cx="666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7F86"/>
                </a:solidFill>
                <a:latin typeface="Arial"/>
                <a:ea typeface="Arial"/>
                <a:cs typeface="Arial"/>
              </a:rPr>
              <a:t>ASSOCIATION WITH DYSPHAGIA</a:t>
            </a:r>
          </a:p>
        </p:txBody>
      </p:sp>
      <p:sp>
        <p:nvSpPr>
          <p:cNvPr id="24" name="Chart subtitle">
            <a:extLst xmlns:a="http://schemas.openxmlformats.org/drawingml/2006/main">
              <a:ext uri="{FF2B5EF4-FFF2-40B4-BE49-F238E27FC236}">
                <a16:creationId xmlns:a16="http://schemas.microsoft.com/office/drawing/2014/main" id="{01CE0F44-EDF5-419A-9EBC-77B7764B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71875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Patients with both findings [1]</a:t>
            </a:r>
          </a:p>
        </p:txBody>
      </p:sp>
      <p:sp>
        <p:nvSpPr>
          <p:cNvPr id="25" name="P value">
            <a:extLst xmlns:a="http://schemas.openxmlformats.org/drawingml/2006/main">
              <a:ext uri="{FF2B5EF4-FFF2-40B4-BE49-F238E27FC236}">
                <a16:creationId xmlns:a16="http://schemas.microsoft.com/office/drawing/2014/main" id="{F119DB44-2C35-4A96-B0D4-B4979115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0195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D178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7852"/>
                </a:solidFill>
                <a:latin typeface="Arial"/>
                <a:ea typeface="Arial"/>
                <a:cs typeface="Arial"/>
              </a:rPr>
              <a:t>P = 0.006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8096250" y="4286250"/>
          <a:ext xmlns:a="http://schemas.openxmlformats.org/drawingml/2006/main" cx="6610350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a0e3c010ae4d93"/>
          </a:graphicData>
        </a:graphic>
      </p:graphicFrame>
      <p:sp>
        <p:nvSpPr>
          <p:cNvPr id="27" name="Dysphagia denominator">
            <a:extLst xmlns:a="http://schemas.openxmlformats.org/drawingml/2006/main">
              <a:ext uri="{FF2B5EF4-FFF2-40B4-BE49-F238E27FC236}">
                <a16:creationId xmlns:a16="http://schemas.microsoft.com/office/drawing/2014/main" id="{9EAF550B-7649-4DFD-9FEB-D5B61E76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5341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15/51 patients</a:t>
            </a:r>
          </a:p>
        </p:txBody>
      </p:sp>
      <p:sp>
        <p:nvSpPr>
          <p:cNvPr id="28" name="No dysphagia denominator">
            <a:extLst xmlns:a="http://schemas.openxmlformats.org/drawingml/2006/main">
              <a:ext uri="{FF2B5EF4-FFF2-40B4-BE49-F238E27FC236}">
                <a16:creationId xmlns:a16="http://schemas.microsoft.com/office/drawing/2014/main" id="{BB45679F-68A9-4BBE-A9EC-08E5BFF8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341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20/155 patients</a:t>
            </a:r>
          </a:p>
        </p:txBody>
      </p:sp>
      <p:sp>
        <p:nvSpPr>
          <p:cNvPr id="29" name="Available IRP sample">
            <a:extLst xmlns:a="http://schemas.openxmlformats.org/drawingml/2006/main">
              <a:ext uri="{FF2B5EF4-FFF2-40B4-BE49-F238E27FC236}">
                <a16:creationId xmlns:a16="http://schemas.microsoft.com/office/drawing/2014/main" id="{34F694EE-B5C0-4898-9906-C5F0B607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934200"/>
            <a:ext cx="662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IRP data available for 206 of 228 patients</a:t>
            </a:r>
          </a:p>
        </p:txBody>
      </p:sp>
      <p:sp>
        <p:nvSpPr>
          <p:cNvPr id="30" name="Conclusion band">
            <a:extLst xmlns:a="http://schemas.openxmlformats.org/drawingml/2006/main">
              <a:ext uri="{FF2B5EF4-FFF2-40B4-BE49-F238E27FC236}">
                <a16:creationId xmlns:a16="http://schemas.microsoft.com/office/drawing/2014/main" id="{9BDCBCB1-308B-4D2E-AA58-6D55F66C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10450"/>
            <a:ext cx="1524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2"/>
          </a:solidFill>
          <a:ln xmlns:a="http://schemas.openxmlformats.org/drawingml/2006/main" w="0">
            <a:noFill/>
          </a:ln>
        </p:spPr>
      </p:sp>
      <p:sp>
        <p:nvSpPr>
          <p:cNvPr id="31" name="Conclusion">
            <a:extLst xmlns:a="http://schemas.openxmlformats.org/drawingml/2006/main">
              <a:ext uri="{FF2B5EF4-FFF2-40B4-BE49-F238E27FC236}">
                <a16:creationId xmlns:a16="http://schemas.microsoft.com/office/drawing/2014/main" id="{47DEEA0F-F3D2-4ED1-B1C0-655D1699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6175"/>
            <a:ext cx="1417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Dysphagia was associated with the combination of impaired bolus transit</a:t>
            </a:r>
          </a:p>
          <a:p xmlns:a="http://schemas.openxmlformats.org/drawingml/2006/main">
            <a:pPr algn="l">
              <a:defRPr sz="2025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and poor LES relaxation in patients with IEM. [1]</a:t>
            </a:r>
          </a:p>
        </p:txBody>
      </p:sp>
      <p:sp>
        <p:nvSpPr>
          <p:cNvPr id="32" name="Citation">
            <a:extLst xmlns:a="http://schemas.openxmlformats.org/drawingml/2006/main">
              <a:ext uri="{FF2B5EF4-FFF2-40B4-BE49-F238E27FC236}">
                <a16:creationId xmlns:a16="http://schemas.microsoft.com/office/drawing/2014/main" id="{8546BCBB-4129-45FB-B5BA-A1A433BA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67700"/>
            <a:ext cx="1052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[1] Abdel-Jalil A, Koo TH, Fass R. J Neurogastroenterol Motil. 2026;32(2):217–227.</a:t>
            </a:r>
          </a:p>
        </p:txBody>
      </p:sp>
      <p:sp>
        <p:nvSpPr>
          <p:cNvPr id="33" name="DOI">
            <a:extLst xmlns:a="http://schemas.openxmlformats.org/drawingml/2006/main">
              <a:ext uri="{FF2B5EF4-FFF2-40B4-BE49-F238E27FC236}">
                <a16:creationId xmlns:a16="http://schemas.microsoft.com/office/drawing/2014/main" id="{F85D8340-B0AD-4BFA-A143-9D2FADD3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8267700"/>
            <a:ext cx="363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doi:10.5056/jnm25058</a:t>
            </a:r>
          </a:p>
        </p:txBody>
      </p:sp>
    </p:spTree>
    <p:extLst>
      <p:ext uri="{BB962C8B-B14F-4D97-AF65-F5344CB8AC3E}">
        <p14:creationId xmlns:p14="http://schemas.microsoft.com/office/powerpoint/2010/main" val="2132386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2026-09-16T16:29:16.5430000Z</dcterms:created>
  <dcterms:modified xsi:type="dcterms:W3CDTF">2026-09-16T16:29:16.5430000Z</dcterms:modified>
</coreProperties>
</file>