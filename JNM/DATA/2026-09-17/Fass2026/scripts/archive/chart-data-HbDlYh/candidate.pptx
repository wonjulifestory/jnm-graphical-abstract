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8dbd0036e574291" /><Relationship Type="http://schemas.openxmlformats.org/officeDocument/2006/relationships/extended-properties" Target="/docProps/app.xml" Id="Rf4d06a15cc134bb9" /><Relationship Type="http://schemas.openxmlformats.org/officeDocument/2006/relationships/officeDocument" Target="/ppt/presentation.xml" Id="R21afd4330c7a4d2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67a5522f30348e7"/>
  </p:sldMasterIdLst>
  <p:notesMasterIdLst>
    <p:notesMasterId xmlns:r="http://schemas.openxmlformats.org/officeDocument/2006/relationships" r:id="R50e54fc2bea14a12"/>
  </p:notesMasterIdLst>
  <p:sldIdLst>
    <p:sldId xmlns:r="http://schemas.openxmlformats.org/officeDocument/2006/relationships" id="256" r:id="R891f96b038c445cf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658154709784dff" /><Relationship Type="http://schemas.openxmlformats.org/officeDocument/2006/relationships/slideMaster" Target="/ppt/slideMasters/slideMaster1.xml" Id="R367a5522f30348e7" /><Relationship Type="http://schemas.openxmlformats.org/officeDocument/2006/relationships/notesMaster" Target="/ppt/notesMasters/notesMaster1.xml" Id="R50e54fc2bea14a12" /><Relationship Type="http://schemas.openxmlformats.org/officeDocument/2006/relationships/presProps" Target="/ppt/presProps.xml" Id="Rd69ce8cab0ea4197" /><Relationship Type="http://schemas.openxmlformats.org/officeDocument/2006/relationships/tableStyles" Target="/ppt/tableStyles.xml" Id="R30dc6fb9f96440a4" /><Relationship Type="http://schemas.openxmlformats.org/officeDocument/2006/relationships/slide" Target="/ppt/slides/slide1.xml" Id="R891f96b038c445c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ce5156cf5534b8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52f93a4a0ee4759" /><Relationship Type="http://schemas.openxmlformats.org/officeDocument/2006/relationships/notesMaster" Target="/ppt/notesMasters/notesMaster1.xml" Id="R4d8721adff8e483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Abdel-Jalil A, Koo TH, Fass R. J Neurogastroenterol Motil. 2026;32(2):217–227. DOI 10.5056/jnm25058. Supplied source: JNM sample/jnm-32-2-217.pdf. Cohort and study design: p.217 and Methods. Main comparison: p.223, Table 4. Percentages are as reported (29 and 13), denominators 51 and 155, reported P=0.006. This is the prevalence of coexisting abnormal bolus transit and elevated IRP within each symptom group, not dysphagia prevalence within physiological subgroups. Original article CC BY-NC 4.0. The anatomical illustration was created with OpenAI image generation on 2026-09-17 and is conceptual; it is not measured patient anatomy. Text and chart are native editable PowerPoint elements. LES: lower esophageal sphincter. IEM: ineffective esophageal motility.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c0d1bf786c483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9640885058741c1" /><Relationship Type="http://schemas.openxmlformats.org/officeDocument/2006/relationships/slideLayout" Target="/ppt/slideLayouts/slideLayout1.xml" Id="Re4f701689d8a4e0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4f701689d8a4e0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7ea3c0c1804fb3" /><Relationship Type="http://schemas.openxmlformats.org/officeDocument/2006/relationships/image" Target="/ppt/media/image.jpeg" Id="R5f98ec49e36441e9" /><Relationship Type="http://schemas.openxmlformats.org/officeDocument/2006/relationships/chart" Target="/ppt/slides/charts/chart1.xml" Id="R44eb450ec722445a" /><Relationship Type="http://schemas.openxmlformats.org/officeDocument/2006/relationships/notesSlide" Target="/ppt/notesSlides/notesSlide1.xml" Id="Rd9541264701641b6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1"/>
        <c:ser>
          <c:idx val="0"/>
          <c:order val="0"/>
          <c:tx>
            <c:v>Abnormal bolus transit + elevated IRP (%)</c:v>
          </c:tx>
          <c:spPr>
            <a:solidFill xmlns:a="http://schemas.openxmlformats.org/drawingml/2006/main">
              <a:srgbClr val="237F86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D17852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237F86"/>
              </a:solidFill>
            </c:spPr>
          </c:dPt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2400" b="1">
                        <a:solidFill>
                          <a:srgbClr val="D17852"/>
                        </a:solidFill>
                        <a:latin typeface="Arial"/>
                        <a:ea typeface="Arial"/>
                        <a:cs typeface="Arial"/>
                      </a:rPr>
                      <a:t>29%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2400" b="1">
                      <a:solidFill>
                        <a:srgbClr val="D17852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2400" b="1">
                        <a:solidFill>
                          <a:srgbClr val="237F86"/>
                        </a:solidFill>
                        <a:latin typeface="Arial"/>
                        <a:ea typeface="Arial"/>
                        <a:cs typeface="Arial"/>
                      </a:rPr>
                      <a:t>13%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2400" b="1">
                      <a:solidFill>
                        <a:srgbClr val="237F86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Ref>
              <c:f>'Chart Data'!$A$2:$A$3</c:f>
              <c:strCache>
                <c:ptCount val="2"/>
                <c:pt idx="0">
                  <c:v>With dysphagia</c:v>
                </c:pt>
                <c:pt idx="1">
                  <c:v>Without dysphagia</c:v>
                </c:pt>
              </c:strCache>
            </c:strRef>
          </c:cat>
          <c:val>
            <c:numRef>
              <c:f>'Chart Data'!$B$2:$B$3</c:f>
              <c:numCache>
                <c:formatCode>0"%"</c:formatCode>
                <c:ptCount val="2"/>
                <c:pt idx="0">
                  <c:v>29</c:v>
                </c:pt>
                <c:pt idx="1">
                  <c:v>13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250" b="1"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AFC0C6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3C54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4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1E8EA"/>
              </a:solidFill>
            </a:ln>
          </c:spPr>
        </c:majorGridlines>
        <c:numFmt formatCode="0&quot;%&quot;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975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2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Title background">
            <a:extLst xmlns:a="http://schemas.openxmlformats.org/drawingml/2006/main">
              <a:ext uri="{FF2B5EF4-FFF2-40B4-BE49-F238E27FC236}">
                <a16:creationId xmlns:a16="http://schemas.microsoft.com/office/drawing/2014/main" id="{3B18F952-687D-4592-9156-049B8247F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1724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C54"/>
          </a:solidFill>
          <a:ln xmlns:a="http://schemas.openxmlformats.org/drawingml/2006/main" w="0">
            <a:noFill/>
          </a:ln>
        </p:spPr>
      </p:sp>
      <p:sp>
        <p:nvSpPr>
          <p:cNvPr id="2" name="Journal">
            <a:extLst xmlns:a="http://schemas.openxmlformats.org/drawingml/2006/main">
              <a:ext uri="{FF2B5EF4-FFF2-40B4-BE49-F238E27FC236}">
                <a16:creationId xmlns:a16="http://schemas.microsoft.com/office/drawing/2014/main" id="{C479F731-AB79-4274-AD51-94EBCE026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0025"/>
            <a:ext cx="95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JNM</a:t>
            </a:r>
          </a:p>
        </p:txBody>
      </p:sp>
      <p:sp>
        <p:nvSpPr>
          <p:cNvPr id="3" name="Journal name">
            <a:extLst xmlns:a="http://schemas.openxmlformats.org/drawingml/2006/main">
              <a:ext uri="{FF2B5EF4-FFF2-40B4-BE49-F238E27FC236}">
                <a16:creationId xmlns:a16="http://schemas.microsoft.com/office/drawing/2014/main" id="{455CA0A9-F79C-468E-A8E8-664693574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66700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CE9E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CE9ED"/>
                </a:solidFill>
                <a:latin typeface="Arial"/>
                <a:ea typeface="Arial"/>
                <a:cs typeface="Arial"/>
              </a:rPr>
              <a:t>Journal of Neurogastroenterology and Motility</a:t>
            </a:r>
          </a:p>
        </p:txBody>
      </p:sp>
      <p:sp>
        <p:nvSpPr>
          <p:cNvPr id="4" name="Draft identifier">
            <a:extLst xmlns:a="http://schemas.openxmlformats.org/drawingml/2006/main">
              <a:ext uri="{FF2B5EF4-FFF2-40B4-BE49-F238E27FC236}">
                <a16:creationId xmlns:a16="http://schemas.microsoft.com/office/drawing/2014/main" id="{667068EA-6D1B-4AC3-8754-6C98CE921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266700"/>
            <a:ext cx="2667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DCE9E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CE9ED"/>
                </a:solidFill>
                <a:latin typeface="Arial"/>
                <a:ea typeface="Arial"/>
                <a:cs typeface="Arial"/>
              </a:rPr>
              <a:t>EDITORIAL SAMPLE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D427DB6D-715E-4F8F-97C0-C5DAA3AB6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90575"/>
            <a:ext cx="1419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Dysphagia in ineffective esophageal motility</a:t>
            </a:r>
          </a:p>
        </p:txBody>
      </p:sp>
      <p:sp>
        <p:nvSpPr>
          <p:cNvPr id="6" name="Cohort size">
            <a:extLst xmlns:a="http://schemas.openxmlformats.org/drawingml/2006/main">
              <a:ext uri="{FF2B5EF4-FFF2-40B4-BE49-F238E27FC236}">
                <a16:creationId xmlns:a16="http://schemas.microsoft.com/office/drawing/2014/main" id="{E310468D-AE6A-413E-BB3A-AB4FD2ADF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14525"/>
            <a:ext cx="14573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237F86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237F86"/>
                </a:solidFill>
                <a:latin typeface="Arial"/>
                <a:ea typeface="Arial"/>
                <a:cs typeface="Arial"/>
              </a:rPr>
              <a:t>228</a:t>
            </a:r>
          </a:p>
        </p:txBody>
      </p:sp>
      <p:sp>
        <p:nvSpPr>
          <p:cNvPr id="7" name="Cohort descriptor">
            <a:extLst xmlns:a="http://schemas.openxmlformats.org/drawingml/2006/main">
              <a:ext uri="{FF2B5EF4-FFF2-40B4-BE49-F238E27FC236}">
                <a16:creationId xmlns:a16="http://schemas.microsoft.com/office/drawing/2014/main" id="{7B80F467-293F-4783-A73D-AE71BFD41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2009775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3C5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3C54"/>
                </a:solidFill>
                <a:latin typeface="Arial"/>
                <a:ea typeface="Arial"/>
                <a:cs typeface="Arial"/>
              </a:rPr>
              <a:t>patients with IEM</a:t>
            </a:r>
          </a:p>
        </p:txBody>
      </p:sp>
      <p:sp>
        <p:nvSpPr>
          <p:cNvPr id="8" name="Study design">
            <a:extLst xmlns:a="http://schemas.openxmlformats.org/drawingml/2006/main">
              <a:ext uri="{FF2B5EF4-FFF2-40B4-BE49-F238E27FC236}">
                <a16:creationId xmlns:a16="http://schemas.microsoft.com/office/drawing/2014/main" id="{9418DCCE-8F08-4F1A-AD95-A88B2D753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41935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697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975"/>
                </a:solidFill>
                <a:latin typeface="Arial"/>
                <a:ea typeface="Arial"/>
                <a:cs typeface="Arial"/>
              </a:rPr>
              <a:t>Single-center retrospective study, 2010–2013 [1]</a:t>
            </a:r>
          </a:p>
        </p:txBody>
      </p:sp>
      <p:sp>
        <p:nvSpPr>
          <p:cNvPr id="9" name="Assessment">
            <a:extLst xmlns:a="http://schemas.openxmlformats.org/drawingml/2006/main">
              <a:ext uri="{FF2B5EF4-FFF2-40B4-BE49-F238E27FC236}">
                <a16:creationId xmlns:a16="http://schemas.microsoft.com/office/drawing/2014/main" id="{E1970633-69E7-4AD3-803A-F2AF98BEE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1981200"/>
            <a:ext cx="4762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173C5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C54"/>
                </a:solidFill>
                <a:latin typeface="Arial"/>
                <a:ea typeface="Arial"/>
                <a:cs typeface="Arial"/>
              </a:rPr>
              <a:t>High-resolution manometry</a:t>
            </a:r>
          </a:p>
          <a:p xmlns:a="http://schemas.openxmlformats.org/drawingml/2006/main">
            <a:pPr algn="r">
              <a:defRPr sz="2025" b="1">
                <a:solidFill>
                  <a:srgbClr val="173C5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C54"/>
                </a:solidFill>
                <a:latin typeface="Arial"/>
                <a:ea typeface="Arial"/>
                <a:cs typeface="Arial"/>
              </a:rPr>
              <a:t>with impedance</a:t>
            </a:r>
          </a:p>
        </p:txBody>
      </p:sp>
      <p:sp>
        <p:nvSpPr>
          <p:cNvPr id="10" name="Study separator">
            <a:extLst xmlns:a="http://schemas.openxmlformats.org/drawingml/2006/main">
              <a:ext uri="{FF2B5EF4-FFF2-40B4-BE49-F238E27FC236}">
                <a16:creationId xmlns:a16="http://schemas.microsoft.com/office/drawing/2014/main" id="{77C0282A-0FA9-4586-9280-8533661D0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05125"/>
            <a:ext cx="1417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7D4D9"/>
            </a:solidFill>
            <a:prstDash val="solid"/>
          </a:ln>
        </p:spPr>
      </p:sp>
      <p:sp>
        <p:nvSpPr>
          <p:cNvPr id="11" name="Physiology heading">
            <a:extLst xmlns:a="http://schemas.openxmlformats.org/drawingml/2006/main">
              <a:ext uri="{FF2B5EF4-FFF2-40B4-BE49-F238E27FC236}">
                <a16:creationId xmlns:a16="http://schemas.microsoft.com/office/drawing/2014/main" id="{A28952A7-4250-44DA-AE46-1D6D1133A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33725"/>
            <a:ext cx="6953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37F8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37F86"/>
                </a:solidFill>
                <a:latin typeface="Arial"/>
                <a:ea typeface="Arial"/>
                <a:cs typeface="Arial"/>
              </a:rPr>
              <a:t>COMBINED FINDINGS</a:t>
            </a:r>
          </a:p>
        </p:txBody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98ec49e36441e9"/>
          <a:stretch xmlns:a="http://schemas.openxmlformats.org/drawingml/2006/main"/>
        </p:blipFill>
        <p:spPr>
          <a:xfrm xmlns:a="http://schemas.openxmlformats.org/drawingml/2006/main">
            <a:off x="3941763" y="3590925"/>
            <a:ext cx="2279650" cy="3419475"/>
          </a:xfrm>
          <a:prstGeom xmlns:a="http://schemas.openxmlformats.org/drawingml/2006/main" prst="rect">
            <a:avLst/>
          </a:prstGeom>
        </p:spPr>
      </p:pic>
      <p:sp>
        <p:nvSpPr>
          <p:cNvPr id="13" name="Bolus transit label">
            <a:extLst xmlns:a="http://schemas.openxmlformats.org/drawingml/2006/main">
              <a:ext uri="{FF2B5EF4-FFF2-40B4-BE49-F238E27FC236}">
                <a16:creationId xmlns:a16="http://schemas.microsoft.com/office/drawing/2014/main" id="{3BDAA751-60FC-4BCC-9783-F9B0CBF10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38600"/>
            <a:ext cx="31146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3C5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C54"/>
                </a:solidFill>
                <a:latin typeface="Arial"/>
                <a:ea typeface="Arial"/>
                <a:cs typeface="Arial"/>
              </a:rPr>
              <a:t>Defective bolus transit</a:t>
            </a:r>
          </a:p>
        </p:txBody>
      </p:sp>
      <p:sp>
        <p:nvSpPr>
          <p:cNvPr id="14" name="Bolus transit detail">
            <a:extLst xmlns:a="http://schemas.openxmlformats.org/drawingml/2006/main">
              <a:ext uri="{FF2B5EF4-FFF2-40B4-BE49-F238E27FC236}">
                <a16:creationId xmlns:a16="http://schemas.microsoft.com/office/drawing/2014/main" id="{6965AE47-AFB7-48AF-AACA-5D838E4CF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29125"/>
            <a:ext cx="3257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97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975"/>
                </a:solidFill>
                <a:latin typeface="Arial"/>
                <a:ea typeface="Arial"/>
                <a:cs typeface="Arial"/>
              </a:rPr>
              <a:t>Liquid and viscous swallows</a:t>
            </a:r>
          </a:p>
        </p:txBody>
      </p:sp>
      <p:sp>
        <p:nvSpPr>
          <p:cNvPr id="15" name="Bolus callout">
            <a:extLst xmlns:a="http://schemas.openxmlformats.org/drawingml/2006/main">
              <a:ext uri="{FF2B5EF4-FFF2-40B4-BE49-F238E27FC236}">
                <a16:creationId xmlns:a16="http://schemas.microsoft.com/office/drawing/2014/main" id="{B698AE9D-C8CE-443C-B5A1-A4292367C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591050"/>
            <a:ext cx="1162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37F86"/>
            </a:solidFill>
            <a:prstDash val="solid"/>
          </a:ln>
        </p:spPr>
      </p:sp>
      <p:sp>
        <p:nvSpPr>
          <p:cNvPr id="16" name="Combination sign">
            <a:extLst xmlns:a="http://schemas.openxmlformats.org/drawingml/2006/main">
              <a:ext uri="{FF2B5EF4-FFF2-40B4-BE49-F238E27FC236}">
                <a16:creationId xmlns:a16="http://schemas.microsoft.com/office/drawing/2014/main" id="{0BFCF012-C4C8-4261-BF6C-A1375786A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9339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D1785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D17852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17" name="LES label">
            <a:extLst xmlns:a="http://schemas.openxmlformats.org/drawingml/2006/main">
              <a:ext uri="{FF2B5EF4-FFF2-40B4-BE49-F238E27FC236}">
                <a16:creationId xmlns:a16="http://schemas.microsoft.com/office/drawing/2014/main" id="{3884A69E-5F36-4762-A74B-6438631DD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0"/>
            <a:ext cx="31146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3C5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C54"/>
                </a:solidFill>
                <a:latin typeface="Arial"/>
                <a:ea typeface="Arial"/>
                <a:cs typeface="Arial"/>
              </a:rPr>
              <a:t>Poor LES relaxation</a:t>
            </a:r>
          </a:p>
        </p:txBody>
      </p:sp>
      <p:sp>
        <p:nvSpPr>
          <p:cNvPr id="18" name="IRP label">
            <a:extLst xmlns:a="http://schemas.openxmlformats.org/drawingml/2006/main">
              <a:ext uri="{FF2B5EF4-FFF2-40B4-BE49-F238E27FC236}">
                <a16:creationId xmlns:a16="http://schemas.microsoft.com/office/drawing/2014/main" id="{8CAAE586-2DD3-43B0-9504-679508504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15025"/>
            <a:ext cx="3257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97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975"/>
                </a:solidFill>
                <a:latin typeface="Arial"/>
                <a:ea typeface="Arial"/>
                <a:cs typeface="Arial"/>
              </a:rPr>
              <a:t>Elevated integrated</a:t>
            </a:r>
          </a:p>
          <a:p xmlns:a="http://schemas.openxmlformats.org/drawingml/2006/main">
            <a:pPr algn="l">
              <a:defRPr sz="1575" b="0">
                <a:solidFill>
                  <a:srgbClr val="52697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975"/>
                </a:solidFill>
                <a:latin typeface="Arial"/>
                <a:ea typeface="Arial"/>
                <a:cs typeface="Arial"/>
              </a:rPr>
              <a:t>relaxation pressure (IRP)</a:t>
            </a:r>
          </a:p>
        </p:txBody>
      </p:sp>
      <p:sp>
        <p:nvSpPr>
          <p:cNvPr id="19" name="LES callout horizontal">
            <a:extLst xmlns:a="http://schemas.openxmlformats.org/drawingml/2006/main">
              <a:ext uri="{FF2B5EF4-FFF2-40B4-BE49-F238E27FC236}">
                <a16:creationId xmlns:a16="http://schemas.microsoft.com/office/drawing/2014/main" id="{C7CA885C-CF87-43E1-B215-BBD253A68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819775"/>
            <a:ext cx="714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17852"/>
            </a:solidFill>
            <a:prstDash val="solid"/>
          </a:ln>
        </p:spPr>
      </p:sp>
      <p:sp>
        <p:nvSpPr>
          <p:cNvPr id="20" name="LES callout diagonal">
            <a:extLst xmlns:a="http://schemas.openxmlformats.org/drawingml/2006/main">
              <a:ext uri="{FF2B5EF4-FFF2-40B4-BE49-F238E27FC236}">
                <a16:creationId xmlns:a16="http://schemas.microsoft.com/office/drawing/2014/main" id="{46EDBFF9-6A85-43BC-8F4B-BB464523A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305425"/>
            <a:ext cx="771525" cy="514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17852"/>
            </a:solidFill>
            <a:prstDash val="solid"/>
          </a:ln>
        </p:spPr>
      </p:sp>
      <p:sp>
        <p:nvSpPr>
          <p:cNvPr id="21" name="Schematic qualifier">
            <a:extLst xmlns:a="http://schemas.openxmlformats.org/drawingml/2006/main">
              <a:ext uri="{FF2B5EF4-FFF2-40B4-BE49-F238E27FC236}">
                <a16:creationId xmlns:a16="http://schemas.microsoft.com/office/drawing/2014/main" id="{32EE4C52-F34E-4C5E-BC1D-BD9901AAC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6972300"/>
            <a:ext cx="285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97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975"/>
                </a:solidFill>
                <a:latin typeface="Arial"/>
                <a:ea typeface="Arial"/>
                <a:cs typeface="Arial"/>
              </a:rPr>
              <a:t>Conceptual illustration</a:t>
            </a:r>
          </a:p>
        </p:txBody>
      </p:sp>
      <p:sp>
        <p:nvSpPr>
          <p:cNvPr id="22" name="Content separator">
            <a:extLst xmlns:a="http://schemas.openxmlformats.org/drawingml/2006/main">
              <a:ext uri="{FF2B5EF4-FFF2-40B4-BE49-F238E27FC236}">
                <a16:creationId xmlns:a16="http://schemas.microsoft.com/office/drawing/2014/main" id="{95F7483E-C027-4F84-8E12-D890D4671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190875"/>
            <a:ext cx="0" cy="3571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7D4D9"/>
            </a:solidFill>
            <a:prstDash val="solid"/>
          </a:ln>
        </p:spPr>
      </p:sp>
      <p:sp>
        <p:nvSpPr>
          <p:cNvPr id="23" name="Result heading">
            <a:extLst xmlns:a="http://schemas.openxmlformats.org/drawingml/2006/main">
              <a:ext uri="{FF2B5EF4-FFF2-40B4-BE49-F238E27FC236}">
                <a16:creationId xmlns:a16="http://schemas.microsoft.com/office/drawing/2014/main" id="{E6125C7E-0ED8-41F7-A969-32DCA262D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133725"/>
            <a:ext cx="6667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37F8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37F86"/>
                </a:solidFill>
                <a:latin typeface="Arial"/>
                <a:ea typeface="Arial"/>
                <a:cs typeface="Arial"/>
              </a:rPr>
              <a:t>ASSOCIATION WITH DYSPHAGIA</a:t>
            </a:r>
          </a:p>
        </p:txBody>
      </p:sp>
      <p:sp>
        <p:nvSpPr>
          <p:cNvPr id="24" name="Chart subtitle">
            <a:extLst xmlns:a="http://schemas.openxmlformats.org/drawingml/2006/main">
              <a:ext uri="{FF2B5EF4-FFF2-40B4-BE49-F238E27FC236}">
                <a16:creationId xmlns:a16="http://schemas.microsoft.com/office/drawing/2014/main" id="{9A5D0C74-CA89-4B7C-9061-6BA0443C6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571875"/>
            <a:ext cx="5905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3C5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3C54"/>
                </a:solidFill>
                <a:latin typeface="Arial"/>
                <a:ea typeface="Arial"/>
                <a:cs typeface="Arial"/>
              </a:rPr>
              <a:t>Patients with both findings [1]</a:t>
            </a:r>
          </a:p>
        </p:txBody>
      </p:sp>
      <p:sp>
        <p:nvSpPr>
          <p:cNvPr id="25" name="P value">
            <a:extLst xmlns:a="http://schemas.openxmlformats.org/drawingml/2006/main">
              <a:ext uri="{FF2B5EF4-FFF2-40B4-BE49-F238E27FC236}">
                <a16:creationId xmlns:a16="http://schemas.microsoft.com/office/drawing/2014/main" id="{17D7DF87-247E-4BA1-9BA4-4EFF2B486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4019550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D1785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17852"/>
                </a:solidFill>
                <a:latin typeface="Arial"/>
                <a:ea typeface="Arial"/>
                <a:cs typeface="Arial"/>
              </a:rPr>
              <a:t>P = 0.006</a:t>
            </a:r>
          </a:p>
        </p:txBody>
      </p:sp>
      <p:graphicFrame>
        <p:nvGraphicFramePr>
          <p:cNvPr id="59" name="Chart"/>
          <p:cNvGraphicFramePr/>
          <p:nvPr/>
        </p:nvGraphicFramePr>
        <p:xfrm>
          <a:off xmlns:a="http://schemas.openxmlformats.org/drawingml/2006/main" x="8096250" y="4286250"/>
          <a:ext xmlns:a="http://schemas.openxmlformats.org/drawingml/2006/main" cx="6610350" cy="2238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4eb450ec722445a"/>
          </a:graphicData>
        </a:graphic>
      </p:graphicFrame>
      <p:sp>
        <p:nvSpPr>
          <p:cNvPr id="27" name="Dysphagia denominator">
            <a:extLst xmlns:a="http://schemas.openxmlformats.org/drawingml/2006/main">
              <a:ext uri="{FF2B5EF4-FFF2-40B4-BE49-F238E27FC236}">
                <a16:creationId xmlns:a16="http://schemas.microsoft.com/office/drawing/2014/main" id="{839A7357-7589-4CBF-A87C-DF904F8E2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6534150"/>
            <a:ext cx="2419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2697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975"/>
                </a:solidFill>
                <a:latin typeface="Arial"/>
                <a:ea typeface="Arial"/>
                <a:cs typeface="Arial"/>
              </a:rPr>
              <a:t>15/51 patients</a:t>
            </a:r>
          </a:p>
        </p:txBody>
      </p:sp>
      <p:sp>
        <p:nvSpPr>
          <p:cNvPr id="28" name="No dysphagia denominator">
            <a:extLst xmlns:a="http://schemas.openxmlformats.org/drawingml/2006/main">
              <a:ext uri="{FF2B5EF4-FFF2-40B4-BE49-F238E27FC236}">
                <a16:creationId xmlns:a16="http://schemas.microsoft.com/office/drawing/2014/main" id="{1358ADA4-1052-47B6-8BCC-777AAC58E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6534150"/>
            <a:ext cx="2619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2697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975"/>
                </a:solidFill>
                <a:latin typeface="Arial"/>
                <a:ea typeface="Arial"/>
                <a:cs typeface="Arial"/>
              </a:rPr>
              <a:t>20/155 patients</a:t>
            </a:r>
          </a:p>
        </p:txBody>
      </p:sp>
      <p:sp>
        <p:nvSpPr>
          <p:cNvPr id="29" name="Available IRP sample">
            <a:extLst xmlns:a="http://schemas.openxmlformats.org/drawingml/2006/main">
              <a:ext uri="{FF2B5EF4-FFF2-40B4-BE49-F238E27FC236}">
                <a16:creationId xmlns:a16="http://schemas.microsoft.com/office/drawing/2014/main" id="{384872D1-2FD7-4A76-9294-4730FF4BA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6934200"/>
            <a:ext cx="662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97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975"/>
                </a:solidFill>
                <a:latin typeface="Arial"/>
                <a:ea typeface="Arial"/>
                <a:cs typeface="Arial"/>
              </a:rPr>
              <a:t>IRP data available for 206 of 228 patients</a:t>
            </a:r>
          </a:p>
        </p:txBody>
      </p:sp>
      <p:sp>
        <p:nvSpPr>
          <p:cNvPr id="30" name="Conclusion band">
            <a:extLst xmlns:a="http://schemas.openxmlformats.org/drawingml/2006/main">
              <a:ext uri="{FF2B5EF4-FFF2-40B4-BE49-F238E27FC236}">
                <a16:creationId xmlns:a16="http://schemas.microsoft.com/office/drawing/2014/main" id="{A69B2634-22C9-4804-A8AB-9A7E88B14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410450"/>
            <a:ext cx="15240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2"/>
          </a:solidFill>
          <a:ln xmlns:a="http://schemas.openxmlformats.org/drawingml/2006/main" w="0">
            <a:noFill/>
          </a:ln>
        </p:spPr>
      </p:sp>
      <p:sp>
        <p:nvSpPr>
          <p:cNvPr id="31" name="Conclusion">
            <a:extLst xmlns:a="http://schemas.openxmlformats.org/drawingml/2006/main">
              <a:ext uri="{FF2B5EF4-FFF2-40B4-BE49-F238E27FC236}">
                <a16:creationId xmlns:a16="http://schemas.microsoft.com/office/drawing/2014/main" id="{BFB4D2F1-D90E-482A-A4EA-DF471F8A7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505700"/>
            <a:ext cx="14173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3C5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3C54"/>
                </a:solidFill>
                <a:latin typeface="Arial"/>
                <a:ea typeface="Arial"/>
                <a:cs typeface="Arial"/>
              </a:rPr>
              <a:t>Dysphagia was associated with the combination of impaired bolus transit</a:t>
            </a:r>
          </a:p>
          <a:p xmlns:a="http://schemas.openxmlformats.org/drawingml/2006/main">
            <a:pPr algn="l">
              <a:defRPr sz="2100" b="1">
                <a:solidFill>
                  <a:srgbClr val="173C5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3C54"/>
                </a:solidFill>
                <a:latin typeface="Arial"/>
                <a:ea typeface="Arial"/>
                <a:cs typeface="Arial"/>
              </a:rPr>
              <a:t>and poor LES relaxation in patients with IEM. [1]</a:t>
            </a:r>
          </a:p>
        </p:txBody>
      </p:sp>
      <p:sp>
        <p:nvSpPr>
          <p:cNvPr id="32" name="Citation">
            <a:extLst xmlns:a="http://schemas.openxmlformats.org/drawingml/2006/main">
              <a:ext uri="{FF2B5EF4-FFF2-40B4-BE49-F238E27FC236}">
                <a16:creationId xmlns:a16="http://schemas.microsoft.com/office/drawing/2014/main" id="{71904B69-53FC-431C-AB7D-73F5ACB76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267700"/>
            <a:ext cx="10525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97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975"/>
                </a:solidFill>
                <a:latin typeface="Arial"/>
                <a:ea typeface="Arial"/>
                <a:cs typeface="Arial"/>
              </a:rPr>
              <a:t>[1] Abdel-Jalil A, Koo TH, Fass R. J Neurogastroenterol Motil. 2026;32(2):217–227.</a:t>
            </a:r>
          </a:p>
        </p:txBody>
      </p:sp>
      <p:sp>
        <p:nvSpPr>
          <p:cNvPr id="33" name="DOI">
            <a:extLst xmlns:a="http://schemas.openxmlformats.org/drawingml/2006/main">
              <a:ext uri="{FF2B5EF4-FFF2-40B4-BE49-F238E27FC236}">
                <a16:creationId xmlns:a16="http://schemas.microsoft.com/office/drawing/2014/main" id="{A0A4F5DA-3C4B-44A7-8FF4-39D8A1A22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8267700"/>
            <a:ext cx="3638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2697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975"/>
                </a:solidFill>
                <a:latin typeface="Arial"/>
                <a:ea typeface="Arial"/>
                <a:cs typeface="Arial"/>
              </a:rPr>
              <a:t>doi:10.5056/jnm25058</a:t>
            </a:r>
          </a:p>
        </p:txBody>
      </p:sp>
    </p:spTree>
    <p:extLst>
      <p:ext uri="{BB962C8B-B14F-4D97-AF65-F5344CB8AC3E}">
        <p14:creationId xmlns:p14="http://schemas.microsoft.com/office/powerpoint/2010/main" val="4526225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2026-09-16T16:27:26.4490000Z</dcterms:created>
  <dcterms:modified xsi:type="dcterms:W3CDTF">2026-09-16T16:27:26.4490000Z</dcterms:modified>
</coreProperties>
</file>